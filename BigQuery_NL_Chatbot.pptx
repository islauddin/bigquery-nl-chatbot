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6035040" cy="603504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097280"/>
            <a:ext cx="3840480" cy="38404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297680"/>
            <a:ext cx="4023360" cy="402336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71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5974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87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6148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NL Chatbot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about your BigQuery data in plain English — Gemini writes the SQL, guardrails keep it safe, and dry-run cost checks keep the bill in line.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5257800"/>
            <a:ext cx="1272845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257800"/>
            <a:ext cx="127284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351837" y="5257800"/>
            <a:ext cx="976579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3" name="Text 10"/>
          <p:cNvSpPr/>
          <p:nvPr/>
        </p:nvSpPr>
        <p:spPr>
          <a:xfrm>
            <a:off x="2351837" y="5257800"/>
            <a:ext cx="9765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584448" y="5257800"/>
            <a:ext cx="1174090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5257800"/>
            <a:ext cx="11740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14570" y="5257800"/>
            <a:ext cx="2359152" cy="420624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7" name="Text 14"/>
          <p:cNvSpPr/>
          <p:nvPr/>
        </p:nvSpPr>
        <p:spPr>
          <a:xfrm>
            <a:off x="5014570" y="525780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guardrails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in English, one safe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2343B"/>
                </a:solidFill>
              </a:rPr>
              <a:t>A Streamlit app that lets anyone query BigQuery without writing SQL.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7079"/>
                </a:solidFill>
              </a:rPr>
              <a:t>Gemini translates the question into SQL grounded on the real schema. A guardrail layer sanitizes it. BigQuery dry-runs it for cost before executing. Results render in-app and export as CSV.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1F7F7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4114800"/>
            <a:ext cx="640080" cy="640080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4281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BigQuery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800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uploads their own service-account key and points the app at their own project and datasets. Nothing is read from a .env file or shared backend — credentials live in the session only, never on disk.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0A2E36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TURN FLOWS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7960" y="2212848"/>
            <a:ext cx="512064" cy="51206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097" y="234598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English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223760" y="2505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 10 customers by revenue"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93992" y="2761488"/>
            <a:ext cx="0" cy="2331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2994660"/>
            <a:ext cx="512064" cy="51206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097" y="3127797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29763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→ SQL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223760" y="32872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 live schema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93992" y="3543300"/>
            <a:ext cx="0" cy="2331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37960" y="3776472"/>
            <a:ext cx="512064" cy="51206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097" y="3909609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37581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SELECT-only, whitelist, LIMIT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793992" y="4325112"/>
            <a:ext cx="0" cy="2331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537960" y="4558284"/>
            <a:ext cx="512064" cy="51206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097" y="4691421"/>
            <a:ext cx="245791" cy="2457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23760" y="45399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Dry-run cost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223760" y="48508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over byte budget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793992" y="5106924"/>
            <a:ext cx="0" cy="23317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37960" y="5340096"/>
            <a:ext cx="512064" cy="51206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097" y="5473233"/>
            <a:ext cx="245791" cy="24579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23760" y="5321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+ export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223760" y="56327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table + CSV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 and what it unlocks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9944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88366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analytics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59689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ask in English instead of writing SQL — "total sales by region last quarter?"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57276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8470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17" y="199448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1536" y="188366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Ad-hoc drill-down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0016" y="259689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reuse conversation context — "now filter by region", "top 5 only".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572768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58784" y="18470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185" y="199448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188366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Bring-your-own project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58784" y="2596896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uploads their own key and points at their own datasets — no multi-tenant leakage.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435364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4242816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read-only querying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1248" y="495604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blocks anything but SELECT, so it's safe even if the account were over-permissioned.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07408" y="3931920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17" y="435364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31536" y="4242816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Cost-governed querying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00016" y="495604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byte-scan cap means no single question can accidentally scan the whole warehouse.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66176" y="3931920"/>
            <a:ext cx="3602736" cy="2084832"/>
          </a:xfrm>
          <a:prstGeom prst="roundRect">
            <a:avLst>
              <a:gd name="adj" fmla="val 3947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58784" y="42062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6185" y="435364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0304" y="4242816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data export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58784" y="4956048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result set downloads as CSV for further analysis in Excel or Sheets.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2093976"/>
            <a:ext cx="621792" cy="621792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114" y="2255642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7889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question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574036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07792" y="187452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39312" y="2093976"/>
            <a:ext cx="621792" cy="621792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978" y="2255642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99232" y="27889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999232" y="31089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574036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48656" y="187452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980176" y="2093976"/>
            <a:ext cx="621792" cy="621792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842" y="2255642"/>
            <a:ext cx="298460" cy="298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0096" y="27889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guardrail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340096" y="31089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SELECT-only, whitelist, LIMIT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257403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589520" y="187452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321040" y="2093976"/>
            <a:ext cx="621792" cy="621792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706" y="2255642"/>
            <a:ext cx="298460" cy="2984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680960" y="27889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dry-run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7680960" y="31089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0" y="2574036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930384" y="1874520"/>
            <a:ext cx="2084832" cy="1600200"/>
          </a:xfrm>
          <a:prstGeom prst="roundRect">
            <a:avLst>
              <a:gd name="adj" fmla="val 5714"/>
            </a:avLst>
          </a:prstGeom>
          <a:solidFill>
            <a:srgbClr val="12454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661904" y="2093976"/>
            <a:ext cx="621792" cy="621792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3570" y="2255642"/>
            <a:ext cx="298460" cy="2984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021824" y="278892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10021824" y="31089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as DataFrame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8631936" y="3474720"/>
            <a:ext cx="0" cy="457200"/>
          </a:xfrm>
          <a:prstGeom prst="line">
            <a:avLst/>
          </a:prstGeom>
          <a:noFill/>
          <a:ln w="19050">
            <a:solidFill>
              <a:srgbClr val="C9553D"/>
            </a:solidFill>
            <a:prstDash val="dash"/>
          </a:ln>
        </p:spPr>
      </p:sp>
      <p:sp>
        <p:nvSpPr>
          <p:cNvPr id="34" name="Shape 23"/>
          <p:cNvSpPr/>
          <p:nvPr/>
        </p:nvSpPr>
        <p:spPr>
          <a:xfrm>
            <a:off x="7269480" y="3977640"/>
            <a:ext cx="2724912" cy="868680"/>
          </a:xfrm>
          <a:prstGeom prst="roundRect">
            <a:avLst>
              <a:gd name="adj" fmla="val 10526"/>
            </a:avLst>
          </a:prstGeom>
          <a:solidFill>
            <a:srgbClr val="3A1E1B"/>
          </a:solidFill>
          <a:ln w="12700">
            <a:solidFill>
              <a:srgbClr val="C9553D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7360920" y="4069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budget → rejected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7360920" y="43891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QueryTooExpensiveError · no data scanned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566928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 → results table · Generated SQL (expandable) · CSV download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2880360" y="5806440"/>
            <a:ext cx="1741018" cy="50292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3240" y="5952744"/>
            <a:ext cx="210312" cy="21031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337560" y="5806440"/>
            <a:ext cx="1238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table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4987138" y="5806440"/>
            <a:ext cx="1741018" cy="50292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0018" y="5952744"/>
            <a:ext cx="210312" cy="21031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444338" y="5806440"/>
            <a:ext cx="1238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1250" dirty="0"/>
          </a:p>
        </p:txBody>
      </p:sp>
      <p:sp>
        <p:nvSpPr>
          <p:cNvPr id="44" name="Shape 31"/>
          <p:cNvSpPr/>
          <p:nvPr/>
        </p:nvSpPr>
        <p:spPr>
          <a:xfrm>
            <a:off x="7093915" y="5806440"/>
            <a:ext cx="1444752" cy="50292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6795" y="5952744"/>
            <a:ext cx="210312" cy="21031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551115" y="5806440"/>
            <a:ext cx="941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phases: set up once, then 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049719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11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Setup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276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· nothing on disk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28346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7889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service-account JSON key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4381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339242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GCP Project ID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14400" y="40416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63040" y="399592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BigQuery Dataset ID list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4400" y="46451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63040" y="459943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Gemini key + advanced settings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14400" y="52486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63040" y="520293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→ build config, client, schema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53328" y="356616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3712464"/>
            <a:ext cx="310896" cy="31089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766560" y="1600200"/>
            <a:ext cx="4846320" cy="4526280"/>
          </a:xfrm>
          <a:prstGeom prst="roundRect">
            <a:avLst>
              <a:gd name="adj" fmla="val 2020"/>
            </a:avLst>
          </a:prstGeom>
          <a:solidFill>
            <a:srgbClr val="0A2E36"/>
          </a:solidFill>
          <a:ln/>
        </p:spPr>
      </p:sp>
      <p:sp>
        <p:nvSpPr>
          <p:cNvPr id="27" name="Shape 23"/>
          <p:cNvSpPr/>
          <p:nvPr/>
        </p:nvSpPr>
        <p:spPr>
          <a:xfrm>
            <a:off x="7086600" y="1892808"/>
            <a:ext cx="603504" cy="603504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11" y="2049719"/>
            <a:ext cx="289682" cy="28968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63840" y="1911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Chat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7863840" y="2276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you reconfigure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132320" y="2834640"/>
            <a:ext cx="384048" cy="384048"/>
          </a:xfrm>
          <a:prstGeom prst="ellipse">
            <a:avLst/>
          </a:prstGeom>
          <a:solidFill>
            <a:srgbClr val="1245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1323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680960" y="2788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132320" y="3438144"/>
            <a:ext cx="384048" cy="384048"/>
          </a:xfrm>
          <a:prstGeom prst="ellipse">
            <a:avLst/>
          </a:prstGeom>
          <a:solidFill>
            <a:srgbClr val="1245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13232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7680960" y="3392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SQL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7132320" y="4041648"/>
            <a:ext cx="384048" cy="384048"/>
          </a:xfrm>
          <a:prstGeom prst="ellipse">
            <a:avLst/>
          </a:prstGeom>
          <a:solidFill>
            <a:srgbClr val="1245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1323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7680960" y="39959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validation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7132320" y="4645152"/>
            <a:ext cx="384048" cy="384048"/>
          </a:xfrm>
          <a:prstGeom prst="ellipse">
            <a:avLst/>
          </a:prstGeom>
          <a:solidFill>
            <a:srgbClr val="1245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13232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7680960" y="45994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execute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7132320" y="5248656"/>
            <a:ext cx="384048" cy="384048"/>
          </a:xfrm>
          <a:prstGeom prst="ellipse">
            <a:avLst/>
          </a:prstGeom>
          <a:solidFill>
            <a:srgbClr val="12454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713232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7680960" y="52029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SQL · CSV download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7132320" y="5577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Reconfigure discards session secrets and returns to Phase 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files, one responsibility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572768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setup wizard + chat, session-state orchestration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99132"/>
            <a:ext cx="11091672" cy="516636"/>
          </a:xfrm>
          <a:prstGeom prst="rect">
            <a:avLst/>
          </a:prstGeom>
          <a:solidFill>
            <a:srgbClr val="F1F7F7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9132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199132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raw setup input into an immutable config object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1109167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25496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bq_client.py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825496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BigQuery client, dry-runs for cost, executes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51860"/>
            <a:ext cx="11091672" cy="516636"/>
          </a:xfrm>
          <a:prstGeom prst="rect">
            <a:avLst/>
          </a:prstGeom>
          <a:solidFill>
            <a:srgbClr val="F1F7F7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1860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schema_loader.py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451860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table/column metadata from INFORMATION_SCHEMA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1109167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78224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nl2sql.py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4078224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question + schema + history to Gemini, extracts SQL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04588"/>
            <a:ext cx="11091672" cy="516636"/>
          </a:xfrm>
          <a:prstGeom prst="rect">
            <a:avLst/>
          </a:prstGeom>
          <a:solidFill>
            <a:srgbClr val="F1F7F7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04588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sql_guard.py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4704588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— blocks DDL/DML, single statement, whitelist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11091672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C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30952"/>
            <a:ext cx="274320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11880" y="5330952"/>
            <a:ext cx="779983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result DataFrame into downloadable CSV bytes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layer runs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76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922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36192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≥1.32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250545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session state, file uploader, forms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57276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19088" y="1828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489" y="197620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50608" y="17922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NL→SQL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50608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(2.5-flash)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19088" y="250545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google-genai SDK — the current unified SDK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1272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5306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536192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BigQuery ≥3.17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04672" y="405993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cost estimate + execution → pandas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63056" y="312724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33832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489" y="353068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0608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50608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service_account creds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419088" y="405993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uploaded key, held in memory only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68172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4937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08516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36192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536192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· db-dtypes · pyarrow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04672" y="5614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BigQuery to_dataframe() conversion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163056" y="4681728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1F7F7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19088" y="49377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489" y="5085161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50608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VALIDATION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150608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sqlparse ≥0.4.4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6419088" y="5614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single SELECT / WITH statement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(dev env 3.14) · no framework-specific runtime beyond Streamlit's own server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 — no single layer trusted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1773936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177" y="1907073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17007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service account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23560" y="1700784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roles/bigquery.dataViewer + jobUser — the first and most important layer.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79806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463040" y="2743200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77" y="2876337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26700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guardrail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623560" y="2670048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SELECT/WITH only; rejects INSERT, UPDATE, DELETE, MERGE, DROP, CREATE, ALTER…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51129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767328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82296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463040" y="3712464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77" y="3845601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148840" y="3639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limiting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623560" y="3639312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query without an explicit LIMIT gets one appended automatically.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4480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1463040" y="4681728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177" y="4814865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148840" y="460857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5623560" y="4608576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dry-run first; rejected before touching data if over the byte cap.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544982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2454E"/>
          </a:solidFill>
          <a:ln/>
        </p:spPr>
      </p:sp>
      <p:sp>
        <p:nvSpPr>
          <p:cNvPr id="33" name="Shape 27"/>
          <p:cNvSpPr/>
          <p:nvPr/>
        </p:nvSpPr>
        <p:spPr>
          <a:xfrm>
            <a:off x="822960" y="570585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705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1463040" y="5650992"/>
            <a:ext cx="512064" cy="512064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177" y="5784129"/>
            <a:ext cx="245791" cy="24579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148840" y="55778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Session-only secrets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5623560" y="5577840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st.session_state for the session; nothing persisted. Reconfigure discards them.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today vs. on the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F1F7F7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0402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today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980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7157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client-side, self-serve setup flow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43814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3558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Schema-grounded NL→SQL with multi-turn follow-ups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782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9959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guardrail + cost-control pipeline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71830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600" y="46360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with generated-SQL transparency + CSV export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358384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71600" y="5276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configuration required at all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6400800" y="1600200"/>
            <a:ext cx="5239512" cy="4526280"/>
          </a:xfrm>
          <a:prstGeom prst="roundRect">
            <a:avLst>
              <a:gd name="adj" fmla="val 2020"/>
            </a:avLst>
          </a:prstGeom>
          <a:solidFill>
            <a:srgbClr val="0A2E36"/>
          </a:solidFill>
          <a:ln/>
        </p:spPr>
      </p:sp>
      <p:sp>
        <p:nvSpPr>
          <p:cNvPr id="19" name="Shape 11"/>
          <p:cNvSpPr/>
          <p:nvPr/>
        </p:nvSpPr>
        <p:spPr>
          <a:xfrm>
            <a:off x="6720840" y="1892808"/>
            <a:ext cx="566928" cy="566928"/>
          </a:xfrm>
          <a:prstGeom prst="ellipse">
            <a:avLst/>
          </a:prstGeom>
          <a:solidFill>
            <a:srgbClr val="12454E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241" y="2040209"/>
            <a:ext cx="272125" cy="2721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06640" y="19110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roadmap</a:t>
            </a:r>
            <a:endParaRPr lang="en-US" sz="1800" dirty="0"/>
          </a:p>
        </p:txBody>
      </p:sp>
      <p:sp>
        <p:nvSpPr>
          <p:cNvPr id="22" name="Shape 13"/>
          <p:cNvSpPr/>
          <p:nvPr/>
        </p:nvSpPr>
        <p:spPr>
          <a:xfrm>
            <a:off x="6803136" y="28437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4"/>
          <p:cNvSpPr/>
          <p:nvPr/>
        </p:nvSpPr>
        <p:spPr>
          <a:xfrm>
            <a:off x="7150608" y="271576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auto-discovery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7150608" y="300837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list_datasets() to pick from a real list instead of typing IDs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6803136" y="3502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17"/>
          <p:cNvSpPr/>
          <p:nvPr/>
        </p:nvSpPr>
        <p:spPr>
          <a:xfrm>
            <a:off x="7150608" y="3374136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GCS signed-URL export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7150608" y="366674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persistent links as a CSV alternative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6803136" y="4160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0"/>
          <p:cNvSpPr/>
          <p:nvPr/>
        </p:nvSpPr>
        <p:spPr>
          <a:xfrm>
            <a:off x="7150608" y="4032504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auto-generation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150608" y="432511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numeric result sets automatically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803136" y="4818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3"/>
          <p:cNvSpPr/>
          <p:nvPr/>
        </p:nvSpPr>
        <p:spPr>
          <a:xfrm>
            <a:off x="7150608" y="4690872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Edit-last-query intent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7150608" y="498348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multi-turn refinement handling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803136" y="54772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26"/>
          <p:cNvSpPr/>
          <p:nvPr/>
        </p:nvSpPr>
        <p:spPr>
          <a:xfrm>
            <a:off x="7150608" y="5349240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audit logging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7150608" y="5641848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9FC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queries per user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6035040" cy="6035040"/>
          </a:xfrm>
          <a:prstGeom prst="ellipse">
            <a:avLst/>
          </a:prstGeom>
          <a:solidFill>
            <a:srgbClr val="02809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377440"/>
            <a:ext cx="5486400" cy="548640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Plain-English questions in.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cost-bounded answers out.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6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read-only, bring-your-own-BigQuery chatbot: Gemini grounds SQL on the live schema, layered guardrails keep it SELECT-only and whitelisted, and dry-run cost checks stop runaway scans — all with session-only credentials.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Gemini + BigQuery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87952" y="53492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0" name="Text 8"/>
          <p:cNvSpPr/>
          <p:nvPr/>
        </p:nvSpPr>
        <p:spPr>
          <a:xfrm>
            <a:off x="4187952" y="5349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guardrails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70064" y="534924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2454E"/>
          </a:solidFill>
          <a:ln/>
        </p:spPr>
      </p:sp>
      <p:sp>
        <p:nvSpPr>
          <p:cNvPr id="12" name="Text 10"/>
          <p:cNvSpPr/>
          <p:nvPr/>
        </p:nvSpPr>
        <p:spPr>
          <a:xfrm>
            <a:off x="7370064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Cost-governed by design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BigQuery NL Chatbot</dc:title>
  <dc:subject>PptxGenJS Presentation</dc:subject>
  <dc:creator>Islauddin</dc:creator>
  <cp:lastModifiedBy>Islauddin</cp:lastModifiedBy>
  <cp:revision>1</cp:revision>
  <dcterms:created xsi:type="dcterms:W3CDTF">2026-07-06T07:31:56Z</dcterms:created>
  <dcterms:modified xsi:type="dcterms:W3CDTF">2026-07-06T07:31:56Z</dcterms:modified>
</cp:coreProperties>
</file>